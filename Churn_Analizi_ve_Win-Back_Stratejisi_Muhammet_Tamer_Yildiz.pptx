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-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C6-4E65-AF16-261B529A545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EC6-4E65-AF16-261B529A5454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C6-4E65-AF16-261B529A545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Girilmemiş (1)</c:v>
                </c:pt>
                <c:pt idx="1">
                  <c:v>Girilmiş (0)</c:v>
                </c:pt>
                <c:pt idx="2">
                  <c:v>Toplam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33.47</c:v>
                </c:pt>
                <c:pt idx="1">
                  <c:v>16.059999999999999</c:v>
                </c:pt>
                <c:pt idx="2">
                  <c:v>49.53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C6-4E65-AF16-261B529A5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0E-4246-87B1-5CC21913856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60E-4246-87B1-5CC21913856A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0E-4246-87B1-5CC21913856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Girilmemiş (1)</c:v>
                </c:pt>
                <c:pt idx="1">
                  <c:v>Girilmiş (0)</c:v>
                </c:pt>
                <c:pt idx="2">
                  <c:v>Toplam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30.68</c:v>
                </c:pt>
                <c:pt idx="1">
                  <c:v>16.16</c:v>
                </c:pt>
                <c:pt idx="2">
                  <c:v>46.84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0E-4246-87B1-5CC2191385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17-4B34-997D-4186E5F582F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F17-4B34-997D-4186E5F582FA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17-4B34-997D-4186E5F582F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Girilmemiş (1)</c:v>
                </c:pt>
                <c:pt idx="1">
                  <c:v>Girilmiş (0)</c:v>
                </c:pt>
                <c:pt idx="2">
                  <c:v>Toplam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22.75</c:v>
                </c:pt>
                <c:pt idx="1">
                  <c:v>16.559999999999999</c:v>
                </c:pt>
                <c:pt idx="2">
                  <c:v>39.299999999999997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F17-4B34-997D-4186E5F582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19A7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DB-4972-8801-BF1BC53E6673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DB-4972-8801-BF1BC53E667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CDB-4972-8801-BF1BC53E667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CDB-4972-8801-BF1BC53E6673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CDB-4972-8801-BF1BC53E667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CDB-4972-8801-BF1BC53E667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~6-7 km</c:v>
                </c:pt>
                <c:pt idx="1">
                  <c:v>~18 km</c:v>
                </c:pt>
                <c:pt idx="2">
                  <c:v>~19 km</c:v>
                </c:pt>
                <c:pt idx="3">
                  <c:v>~24 km</c:v>
                </c:pt>
                <c:pt idx="4">
                  <c:v>~31 km</c:v>
                </c:pt>
                <c:pt idx="5">
                  <c:v>~35-36 km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</c:v>
                </c:pt>
                <c:pt idx="1">
                  <c:v>29.33</c:v>
                </c:pt>
                <c:pt idx="2">
                  <c:v>12.9</c:v>
                </c:pt>
                <c:pt idx="3">
                  <c:v>13.95</c:v>
                </c:pt>
                <c:pt idx="4">
                  <c:v>33.659999999999997</c:v>
                </c:pt>
                <c:pt idx="5">
                  <c:v>15.05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CDB-4972-8801-BF1BC53E66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000000"/>
                    </a:solidFill>
                    <a:latin typeface="Arial"/>
                  </a:rPr>
                  <a:t>WarehouseToHome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19A7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E0-45BD-B099-6CDE70B6C7E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BE0-45BD-B099-6CDE70B6C7ED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E0-45BD-B099-6CDE70B6C7ED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E0-45BD-B099-6CDE70B6C7ED}"/>
              </c:ext>
            </c:extLst>
          </c:dPt>
          <c:dPt>
            <c:idx val="4"/>
            <c:invertIfNegative val="0"/>
            <c:bubble3D val="0"/>
            <c:spPr>
              <a:solidFill>
                <a:srgbClr val="2C2C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E0-45BD-B099-6CDE70B6C7E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11.51</c:v>
                </c:pt>
                <c:pt idx="1">
                  <c:v>12.63</c:v>
                </c:pt>
                <c:pt idx="2">
                  <c:v>17.2</c:v>
                </c:pt>
                <c:pt idx="3">
                  <c:v>17.13</c:v>
                </c:pt>
                <c:pt idx="4">
                  <c:v>23.83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E0-45BD-B099-6CDE70B6C7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000000"/>
                    </a:solidFill>
                    <a:latin typeface="Arial"/>
                  </a:rPr>
                  <a:t>SatisfactionScore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Complain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B7-429E-BC69-E41D45ED01BF}"/>
              </c:ext>
            </c:extLst>
          </c:dPt>
          <c:dPt>
            <c:idx val="1"/>
            <c:bubble3D val="0"/>
            <c:spPr>
              <a:solidFill>
                <a:srgbClr val="19A7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B7-429E-BC69-E41D45ED01BF}"/>
              </c:ext>
            </c:extLst>
          </c:dPt>
          <c:dLbls>
            <c:dLbl>
              <c:idx val="0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B7-429E-BC69-E41D45ED01BF}"/>
                </c:ext>
              </c:extLst>
            </c:dLbl>
            <c:dLbl>
              <c:idx val="1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B7-429E-BC69-E41D45ED01BF}"/>
                </c:ext>
              </c:extLst>
            </c:dLbl>
            <c:numFmt formatCode="#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Şikayet Yok (0)</c:v>
                </c:pt>
                <c:pt idx="1">
                  <c:v>Şikayet Var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144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8B7-429E-BC69-E41D45ED0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5B-4572-8450-952AEDCDB26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45B-4572-8450-952AEDCDB26F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5B-4572-8450-952AEDCDB26F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5B-4572-8450-952AEDCDB26F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5B-4572-8450-952AEDCDB26F}"/>
              </c:ext>
            </c:extLst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45B-4572-8450-952AEDCDB26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Kadın
Boşanmış</c:v>
                </c:pt>
                <c:pt idx="1">
                  <c:v>Erkek
Boşanmış</c:v>
                </c:pt>
                <c:pt idx="2">
                  <c:v>Kadın
Evli</c:v>
                </c:pt>
                <c:pt idx="3">
                  <c:v>Erkek
Evli</c:v>
                </c:pt>
                <c:pt idx="4">
                  <c:v>Kadın
Bekar</c:v>
                </c:pt>
                <c:pt idx="5">
                  <c:v>Erkek
Bekar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13.79</c:v>
                </c:pt>
                <c:pt idx="1">
                  <c:v>15.2</c:v>
                </c:pt>
                <c:pt idx="2">
                  <c:v>9.82</c:v>
                </c:pt>
                <c:pt idx="3">
                  <c:v>12.57</c:v>
                </c:pt>
                <c:pt idx="4">
                  <c:v>24.8</c:v>
                </c:pt>
                <c:pt idx="5">
                  <c:v>28.13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45B-4572-8450-952AEDCDB2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Toplam Churn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21-4F2F-8C47-D1D082203E1B}"/>
              </c:ext>
            </c:extLst>
          </c:dPt>
          <c:dPt>
            <c:idx val="1"/>
            <c:invertIfNegative val="0"/>
            <c:bubble3D val="0"/>
            <c:spPr>
              <a:solidFill>
                <a:srgbClr val="19A7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21-4F2F-8C47-D1D082203E1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321-4F2F-8C47-D1D082203E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Katman 1</c:v>
                </c:pt>
                <c:pt idx="1">
                  <c:v>Katman 2</c:v>
                </c:pt>
                <c:pt idx="2">
                  <c:v>Katman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40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21-4F2F-8C47-D1D082203E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Churn</c:v>
                </c:pt>
              </c:strCache>
            </c:strRef>
          </c:tx>
          <c:spPr>
            <a:solidFill>
              <a:srgbClr val="19A7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2A-4B7A-9D54-F5499F685C16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2A-4B7A-9D54-F5499F685C16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2A-4B7A-9D54-F5499F685C1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Katman 1</c:v>
                </c:pt>
                <c:pt idx="1">
                  <c:v>Katman 2</c:v>
                </c:pt>
                <c:pt idx="2">
                  <c:v>Katman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16.510000000000002</c:v>
                </c:pt>
                <c:pt idx="1">
                  <c:v>22.22</c:v>
                </c:pt>
                <c:pt idx="2">
                  <c:v>24.22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2A-4B7A-9D54-F5499F685C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PreferedOrderCat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A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06-4187-BB83-577F42C5A4FA}"/>
              </c:ext>
            </c:extLst>
          </c:dPt>
          <c:dPt>
            <c:idx val="1"/>
            <c:bubble3D val="0"/>
            <c:spPr>
              <a:solidFill>
                <a:srgbClr val="19A7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06-4187-BB83-577F42C5A4FA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06-4187-BB83-577F42C5A4FA}"/>
              </c:ext>
            </c:extLst>
          </c:dPt>
          <c:dPt>
            <c:idx val="3"/>
            <c:bubble3D val="0"/>
            <c:spPr>
              <a:solidFill>
                <a:srgbClr val="D633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06-4187-BB83-577F42C5A4FA}"/>
              </c:ext>
            </c:extLst>
          </c:dPt>
          <c:dPt>
            <c:idx val="4"/>
            <c:bubble3D val="0"/>
            <c:spPr>
              <a:solidFill>
                <a:srgbClr val="0B24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06-4187-BB83-577F42C5A4FA}"/>
              </c:ext>
            </c:extLst>
          </c:dPt>
          <c:dLbls>
            <c:dLbl>
              <c:idx val="0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06-4187-BB83-577F42C5A4FA}"/>
                </c:ext>
              </c:extLst>
            </c:dLbl>
            <c:dLbl>
              <c:idx val="1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06-4187-BB83-577F42C5A4FA}"/>
                </c:ext>
              </c:extLst>
            </c:dLbl>
            <c:dLbl>
              <c:idx val="2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06-4187-BB83-577F42C5A4FA}"/>
                </c:ext>
              </c:extLst>
            </c:dLbl>
            <c:dLbl>
              <c:idx val="3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06-4187-BB83-577F42C5A4FA}"/>
                </c:ext>
              </c:extLst>
            </c:dLbl>
            <c:dLbl>
              <c:idx val="4"/>
              <c:numFmt formatCode="#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06-4187-BB83-577F42C5A4FA}"/>
                </c:ext>
              </c:extLst>
            </c:dLbl>
            <c:numFmt formatCode="#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Mobile</c:v>
                </c:pt>
                <c:pt idx="1">
                  <c:v>Fashion</c:v>
                </c:pt>
                <c:pt idx="2">
                  <c:v>Laptop &amp; Accessories</c:v>
                </c:pt>
                <c:pt idx="3">
                  <c:v>Others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43.01</c:v>
                </c:pt>
                <c:pt idx="1">
                  <c:v>20.3</c:v>
                </c:pt>
                <c:pt idx="2">
                  <c:v>17.2</c:v>
                </c:pt>
                <c:pt idx="3">
                  <c:v>11.4</c:v>
                </c:pt>
                <c:pt idx="4">
                  <c:v>8.01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A06-4187-BB83-577F42C5A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28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ANALİTİĞİ PORTFÖY PROJESİ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 Kaybı (Churn) Analizi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Win-Back Stratejisi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e-ticaret platformunun müşteri kaybı verisi üzerinde kök neden analizi ve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kazanım (win-back) potansiyeli değerlendirmesi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Muhammet Tamer Yıldız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925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Analisti Adayı  •  Power BI &amp;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Özeti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analiz neyi, neden ve nasıl inceliyor?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kaybının (churn) hangi davranışsal ve demografik etkenlerle ilişkili olduğunu ortaya koymak ve kaybedilen müşterilerden ne kadarının geri kazanılabileceğini tahmin etmek.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685800" cy="685800"/>
          </a:xfrm>
          <a:prstGeom prst="ellipse">
            <a:avLst/>
          </a:prstGeom>
          <a:solidFill>
            <a:srgbClr val="19A7C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Seti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müşteri churn veri seti — teslimat mesafesi, müşterilik süresi, uygulama kullanım süresi, memnuniyet skoru, şikayet, şehir katmanı ve demografik alanlar.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54964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54964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329184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üzerinde segment bazlı churn oranları hesaplandı; risk faktörleri karşılaştırıldı ve aksiyon alınabilir segmentler üzerinden bir win-back (geri kazanım) modeli kurgulandı.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Girişi Eksikliği ile Churn İlişkisi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bırakılan üç alan, churn oranını belirgin şekilde yükseltiyor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Depo–Ev Mesafesi Girilmemiş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286000"/>
          <a:ext cx="3383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34340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Müşterilik Süresi Girilmemiş</a:t>
            </a:r>
            <a:endParaRPr lang="en-US" sz="12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343400" y="2286000"/>
          <a:ext cx="3383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18388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Kullanım Süresi Girilmemiş</a:t>
            </a:r>
            <a:endParaRPr lang="en-US" sz="125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8183880" y="2286000"/>
          <a:ext cx="3383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6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Bu üç alanı boş bırakan müşteriler, dolduranlara göre 2 kata varan oranda daha fazla churn ediyor — düşük etkileşim/iletişim eksikliğinin güçlü bir erken uyarı sinyali olduğunu gösteriyor.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Depo–Ev Mesafesi ile Churn İlişkisi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 arttıkça churn doğrusal artmıyor; belirli aralıklarda keskin sıçramalar var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Mesafe Aralıklarında Ortalama Churn (WarehouseToHome)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69494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78308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046720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046720" y="27432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km ve ~31 km bandındaki müşterilerde churn, genel ortalamanın (~%16-17) yaklaşık iki katına çıkıyor.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361188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8046720" y="3749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11480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mesafe bantlarındaki sıçrama, genel bir “uzaklık arttıkça churn artar” ilişkisinden çok, o bölgelere özgü bir teslimat/kargo süresi sorununa işaret ediyor — bölgesel lojistik iyileştirmesi için net bir hedef alan sunuyor.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Mesafe tek başına değil, belirli bantlardaki lojistik aksaklıklar churn'ü tetikliyor olabilir. Bu bulgu, “kargo/teslimat süresi geliştirmesi” önerisinin veri temelini oluşturuyor.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Memnuniyet Skoru ve Şikayet Analizi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beklenenin aksine en yüksek memnuniyet skorunda da yüksek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Memnuniyet Skoruna Göre Ortalama Churn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057400"/>
          <a:ext cx="6309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086600" y="1691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Şikayet Oranına Göre Churn Dağılımı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yıldız veren müşteriler)</a:t>
            </a:r>
            <a:endParaRPr lang="en-US" sz="13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315200" y="2377440"/>
          <a:ext cx="3931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5 üzerinden 5 yıldız veren memnun görünen müşterilerin %45,45'i (120 kişi) şikayet de bildirmiş — memnuniyet skoru tek başına churn riskini öngörmede yeterli değil.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Demografik Analiz: Cinsiyet ve Medeni Hal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Bekar müşterilerde churn oranı diğer gruplara göre belirgin şekilde daha yüksek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600200"/>
          <a:ext cx="105156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Bekar erkek müşterilerde churn %28,13 ile en yüksek segment; evli müşteriler (özellikle kadın, %9,82) en sadık grup. Segment, sadakat programı önceliklendirmesinde kullanılabilir.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Şehir Katmanına (CityTier) Göre Churn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2'deki düşük hacim, katman 1 ve 3'te yoğunlaşan riskin önemini gölgelemiyor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Katmanına Göre Toplam Churn Sayısı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057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Katmanına Göre Ortalama Churn Oranı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2057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Katman 1, düşük ortalama oranına (%16,51) rağmen en yüksek müşteri hacmi nedeniyle en fazla mutlak churn'ü (420) üretiyor; katman 3 ise hem oran hem hacim açısından ikinci risk alanı.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Eden Müşterilerin Tercih Ettiği Kategoriler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kategori, kaybedilen müşteri harcamalarının büyük çoğunluğunu oluşturuyor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6492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9202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7635240" y="208483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740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509760" y="217627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3-4-5 yıldız verip yine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churn eden müşteri sayısı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60920" y="388620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7635240" y="40507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2,98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509760" y="414223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tr-T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sipariş sayısı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77724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Yüksek puan vermiş olmak churn'e karşı koruma sağlamıyor; bu 740 kişilik grup, memnuniyet dışı nedenlerle (fiyat, alternatif, lojistik) kaybedilmiş olabilir ve win-back için öncelikli hedef kitledir.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 Çıkan Bulgular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Analizin altı temel çıkarımı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00200" y="1463040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veri, güçlü bir risk sinyali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66360" y="146304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mesafesi, müşterilik süresi ve uygulama kullanımı boş bırakılan kayıtlarda churn ~2 kat daha yüksek.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24942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2494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Mesafe, doğrusal değil bantsal bir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2249424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km ve ~31 km müşteri bantlarında churn %29-34'e sıçrıyor — bölgesel bir teslimat sorununa işaret ediyor.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03580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Memnuniyet churn'ü tek başına açıklamıyor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3035808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yıldız verenlerin %45'i yine de şikayet bildirmiş; puan + şikayet birlikte değerlendirilmeli.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82219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382219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Bekarlarda risk en yüksek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382219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Bekar erkek müşterilerde churn %28,13 ile tüm demografik segmentlerin en yükseği.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60857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00200" y="460857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 hacimsel öncelik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4608576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orana rağmen müşteri hacmi nedeniyle mutlak churn kaybının en büyük kaynağı.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600200" y="5394960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kategori en kırılgan alan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539496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 harcamanın %43'ü Mobile kategorisinde — kategori özelinde koruma gerekiyor.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Win-Back Stratejisi: Geri Kazanım Potansiyeli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aksiyon koluna bağlı segment eşleştirmesi ve güncellenmiş senaryo tahmini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Aksiyona Bağlı Segment ve Varsayılan Kurtarma Oranı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040880" cy="23317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Aksiyon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Hedeflenen 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Kurtarma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veri toplanımı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mesafesi / tenure / uygulama süresi eksik girilen kayıtlar (önleyici, erken teşhis)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%5–%10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Bekarlara özel kampanya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Bekar müşteriler, özellikle erkek (%28,13 churn)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%15–%20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Kargo / teslimat geliştirmesi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km ve ~31 km mesafe bandındaki müşteriler (%29–%34 churn)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9A7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%10–%15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 çeşitliliği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kategori ağırlıklı churn eden müşteriler (harcamanın %43'ü)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%8–%12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805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Havuzu = yukarıdaki 4 segmentin birleşimi (distinct müşteri sayısı). Aynı müşteri birden fazla segmentte yer alabilir; bu durumda en yüksek öncelikli aksiyon esas alınır.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50749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Hesaplama Formülü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376672"/>
            <a:ext cx="704088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731520" y="537667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4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Kazanılabilir Müşteri = Σ (Segment Büyüklüğü × Segment Kurtarma Oranı)  |  Kazanılabilir Gelir = Kazanılabilir Müşteri × Ort. Sipariş Sayısı × Ort. Sipariş Değeri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09560" y="16459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Birleşik Senaryo (Ağırlıklı Ortalama)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2011680"/>
          <a:ext cx="3703320" cy="13716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Senaryo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Blend. Oran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Kötümser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(temel)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%12–%15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İyimser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%20–%22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909560" y="352044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kanallı genel kampanyaya kıyasla, 4 aksiyonun her birinin kendi segmentine özel kurgulanması, blend edilmiş orta senaryoyu bir önceki tahminin (%10–%15) üst bandına doğru taşıyor.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1381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Uygulaması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38160" y="5074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aksiyon kolu için ayrı bir What-if Parameter kurgulanır; toplam kazanılabilir gelir dört slider'ın bileşimiyle dinamik olarak hesaplanır.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Öneriler ve Aksiyon Planı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Bulgulardan aksiyona: önceliklendirilmiş dört adım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28900" cy="4206240"/>
          </a:xfrm>
          <a:prstGeom prst="roundRect">
            <a:avLst>
              <a:gd name="adj" fmla="val 2783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0802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 Veri Toplanımı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20802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mesafesi, tenure ve uygulama kullanımı gibi alanların eksiksiz girilmesi için form/uygulama zorunlulukları getirilmeli; eksik kayıtlar otomatik risk etiketiyle işaretlenmeli.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60420" y="1783080"/>
            <a:ext cx="2628900" cy="4206240"/>
          </a:xfrm>
          <a:prstGeom prst="roundRect">
            <a:avLst>
              <a:gd name="adj" fmla="val 2783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34740" y="2057400"/>
            <a:ext cx="566928" cy="566928"/>
          </a:xfrm>
          <a:prstGeom prst="ellipse">
            <a:avLst/>
          </a:prstGeom>
          <a:solidFill>
            <a:srgbClr val="19A7C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3474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34740" y="2761488"/>
            <a:ext cx="20802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Bekarlara Özel Kampanyalar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4740" y="3493008"/>
            <a:ext cx="20802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Bekar müşterilerde (özellikle erkek, %28,13) churn en yüksek segment; bu gruba özel sadakat teklifleri ve kişiselleştirilmiş iletişim kurgulanmalı.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2628900" cy="4206240"/>
          </a:xfrm>
          <a:prstGeom prst="roundRect">
            <a:avLst>
              <a:gd name="adj" fmla="val 2783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5" name="Shape 13"/>
          <p:cNvSpPr/>
          <p:nvPr/>
        </p:nvSpPr>
        <p:spPr>
          <a:xfrm>
            <a:off x="6446520" y="2057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6520" y="2761488"/>
            <a:ext cx="20802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Kargo / Teslimat</a:t>
            </a:r>
            <a:r>
              <a:rPr lang="tr-TR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 </a:t>
            </a:r>
            <a:r>
              <a:rPr lang="tr-TR" sz="1350" b="1" dirty="0" err="1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</a:t>
            </a:r>
            <a:r>
              <a:rPr lang="en-US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Geliştirmesi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493008"/>
            <a:ext cx="20802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km ve ~31 km mesafe bantlarında churn %29-34'e sıçrıyor; bu bölgelerde teslimat süresi ve lojistik süreci öncelikli olarak </a:t>
            </a:r>
            <a:r>
              <a:rPr lang="en-US" sz="108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incelenmeli</a:t>
            </a: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8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r>
              <a:rPr lang="tr-TR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söz konusu olunca da bu kısımda eksik verilerimiz vardı ve uygulama arayüzü geliştirilmeli.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983980" y="1783080"/>
            <a:ext cx="2628900" cy="4206240"/>
          </a:xfrm>
          <a:prstGeom prst="roundRect">
            <a:avLst>
              <a:gd name="adj" fmla="val 2783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258300" y="2057400"/>
            <a:ext cx="566928" cy="5669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25830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58300" y="2761488"/>
            <a:ext cx="20802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Çeşitliliği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58300" y="3493008"/>
            <a:ext cx="20802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 harcamanın %43'ü Mobile kategorisinde yoğunlaşıyor; çapraz kategori önerileri ve kampanyalarla bağımlılık azaltılmalı.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hazırım.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Muhammet Tamer Yıldız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Analisti Adayı  •  Power BI &amp; Python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1144</Words>
  <Application>Microsoft Office PowerPoint</Application>
  <PresentationFormat>Geniş ekran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m.tameryildiz@gmail.com</cp:lastModifiedBy>
  <cp:revision>2</cp:revision>
  <dcterms:created xsi:type="dcterms:W3CDTF">2026-08-16T11:20:02Z</dcterms:created>
  <dcterms:modified xsi:type="dcterms:W3CDTF">2026-08-16T11:33:42Z</dcterms:modified>
</cp:coreProperties>
</file>